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从平面到立体：《我的太阳》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645920" cy="320040"/>
          </a:xfrm>
          <a:prstGeom prst="roundRect">
            <a:avLst>
              <a:gd name="adj" fmla="val 42857"/>
            </a:avLst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第二课时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8ECAE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07592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07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教学转型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270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从平面点线到立体造型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8ECAE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65960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85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团、搓、捏（超轻粘土）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51176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8ECAE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24328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24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606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教学难点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843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太阳的'拟人化表情'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09544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8ECAE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82696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82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264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情感表达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502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喜、怒、哀、乐等情绪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FB703">
              <a:alpha val="7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核心：从'符号太阳'到'有情感的形象'</a:t>
            </a:r>
            <a:endParaRPr lang="en-US" sz="1100" dirty="0"/>
          </a:p>
        </p:txBody>
      </p:sp>
      <p:pic>
        <p:nvPicPr>
          <p:cNvPr id="27" name="Image 0" descr="./imgs/slide1-sun-c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548640"/>
            <a:ext cx="3749040" cy="3931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从形状到想象：《云朵的联想》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随机生成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海绵拍印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随机云朵形状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07792" y="1691640"/>
            <a:ext cx="310896" cy="274320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914400"/>
            <a:ext cx="23774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058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💭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联想转化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这朵云像什么？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从形状到意义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42432" y="1691640"/>
            <a:ext cx="310896" cy="274320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914400"/>
            <a:ext cx="23774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058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🐰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具体形象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动物、物体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记号笔添画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7955280" cy="640080"/>
          </a:xfrm>
          <a:prstGeom prst="roundRect">
            <a:avLst>
              <a:gd name="adj" fmla="val 17143"/>
            </a:avLst>
          </a:prstGeom>
          <a:solidFill>
            <a:srgbClr val="FFB703">
              <a:alpha val="7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260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核心能力：从'看见形状'到'生成意义'</a:t>
            </a:r>
            <a:endParaRPr lang="en-US" sz="1600" dirty="0"/>
          </a:p>
        </p:txBody>
      </p:sp>
      <p:pic>
        <p:nvPicPr>
          <p:cNvPr id="25" name="Image 0" descr="./imgs/slide2-cloud-imagin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657600"/>
            <a:ext cx="2651760" cy="13716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7200" y="370332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219EBC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645920" y="370332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219EBC"/>
          </a:solidFill>
          <a:ln/>
        </p:spPr>
      </p:sp>
      <p:sp>
        <p:nvSpPr>
          <p:cNvPr id="29" name="Text 26"/>
          <p:cNvSpPr/>
          <p:nvPr/>
        </p:nvSpPr>
        <p:spPr>
          <a:xfrm>
            <a:off x="164592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834640" y="370332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219EBC"/>
          </a:solidFill>
          <a:ln/>
        </p:spPr>
      </p:sp>
      <p:sp>
        <p:nvSpPr>
          <p:cNvPr id="31" name="Text 28"/>
          <p:cNvSpPr/>
          <p:nvPr/>
        </p:nvSpPr>
        <p:spPr>
          <a:xfrm>
            <a:off x="283464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3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从色彩到故事：《彩虹的故事》</a:t>
            </a:r>
            <a:endParaRPr lang="en-US" sz="2800" dirty="0"/>
          </a:p>
        </p:txBody>
      </p:sp>
      <p:pic>
        <p:nvPicPr>
          <p:cNvPr id="3" name="Image 0" descr="./imgs/slide3-rainbow-s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438912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8229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8ECAE6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0" y="932688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🌈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77840" y="896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七色学习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红橙黄绿蓝靛紫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0" y="1618488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8ECAE6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1728216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77840" y="16916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77840" y="1984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油画棒宽头画弧线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2414016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8ECAE6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523744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57784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结构表现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77840" y="27797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强调弧形结构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209544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8ECAE6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0" y="3319272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577840" y="32826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联想拓展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77840" y="3575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像桥、像滑梯...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379476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FFB703">
              <a:alpha val="7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 + 故事 = 完整表达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5760" y="4480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核心：造型能力 + 叙事能力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8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整合与升华：《上天摘星星》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收官课</a:t>
            </a:r>
            <a:endParaRPr lang="en-US" sz="1100" dirty="0"/>
          </a:p>
        </p:txBody>
      </p:sp>
      <p:pic>
        <p:nvPicPr>
          <p:cNvPr id="5" name="Image 0" descr="./imgs/slide4-star-cra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20624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前三课整合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5087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49240" y="15819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581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粘土太阳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14884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49240" y="2221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第二课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221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云朵联想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78892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8ECA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🌈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49240" y="2862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第三课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2862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彩虹故事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1089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8ECAE6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新技法：纸弹簧 + 综合材料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3383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制作可弹跳的立体星星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37947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FB703">
              <a:alpha val="7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3794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空间层次 + 动态效果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576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构建完整'天空世界'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从单一到综合：单元学习路径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1920240" cy="4572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我的太阳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立体造型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1536192"/>
            <a:ext cx="237744" cy="219456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91440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219E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914400"/>
            <a:ext cx="1920240" cy="45720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云朵联想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848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联想训练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36008" y="1536192"/>
            <a:ext cx="237744" cy="219456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91440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8EC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914400"/>
            <a:ext cx="1920240" cy="457200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彩虹故事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0848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造型叙事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30568" y="1536192"/>
            <a:ext cx="237744" cy="219456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91440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914400"/>
            <a:ext cx="192024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7804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上天摘星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20848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整合综合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ECAE6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94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建构力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28800" y="32004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219EBC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分步训练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3566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单一技法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0" y="32004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219EB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整合创作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3566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</a:t>
            </a:r>
            <a:endParaRPr lang="en-US" sz="800" dirty="0"/>
          </a:p>
        </p:txBody>
      </p:sp>
      <p:pic>
        <p:nvPicPr>
          <p:cNvPr id="42" name="Image 0" descr="./imgs/slide5-summary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108960"/>
            <a:ext cx="2926080" cy="15544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57200" y="4023360"/>
            <a:ext cx="5303520" cy="594360"/>
          </a:xfrm>
          <a:prstGeom prst="roundRect">
            <a:avLst>
              <a:gd name="adj" fmla="val 18462"/>
            </a:avLst>
          </a:prstGeom>
          <a:solidFill>
            <a:srgbClr val="FFB703">
              <a:alpha val="7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" y="4023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核心特征：递进性 + 系统性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23047"/>
          </a:solidFill>
          <a:ln/>
        </p:spPr>
      </p:sp>
      <p:sp>
        <p:nvSpPr>
          <p:cNvPr id="46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小学美术项目式学习 - 天空单元（第二部分）</dc:title>
  <dc:subject>课程结构与教学设计</dc:subject>
  <dc:creator>Claude</dc:creator>
  <cp:lastModifiedBy>Claude</cp:lastModifiedBy>
  <cp:revision>1</cp:revision>
  <dcterms:created xsi:type="dcterms:W3CDTF">2026-04-12T08:38:41Z</dcterms:created>
  <dcterms:modified xsi:type="dcterms:W3CDTF">2026-04-12T08:38:41Z</dcterms:modified>
</cp:coreProperties>
</file>