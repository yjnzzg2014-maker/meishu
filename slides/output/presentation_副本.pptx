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3200400" cy="3200400"/>
          </a:xfrm>
          <a:prstGeom prst="ellipse">
            <a:avLst/>
          </a:prstGeom>
          <a:solidFill>
            <a:srgbClr val="8ECAE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274320"/>
            <a:ext cx="2926080" cy="1645920"/>
          </a:xfrm>
          <a:prstGeom prst="roundRect">
            <a:avLst>
              <a:gd name="adj" fmla="val 11111"/>
            </a:avLst>
          </a:prstGeom>
          <a:solidFill>
            <a:srgbClr val="FFB70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840480"/>
            <a:ext cx="2560320" cy="2560320"/>
          </a:xfrm>
          <a:prstGeom prst="ellipse">
            <a:avLst/>
          </a:prstGeom>
          <a:solidFill>
            <a:srgbClr val="219EB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4114800"/>
            <a:ext cx="2286000" cy="1371600"/>
          </a:xfrm>
          <a:prstGeom prst="roundRect">
            <a:avLst>
              <a:gd name="adj" fmla="val 16667"/>
            </a:avLst>
          </a:prstGeom>
          <a:solidFill>
            <a:srgbClr val="8ECAE6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828800"/>
            <a:ext cx="27432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Shape 5"/>
          <p:cNvSpPr/>
          <p:nvPr/>
        </p:nvSpPr>
        <p:spPr>
          <a:xfrm>
            <a:off x="4434840" y="1188720"/>
            <a:ext cx="274320" cy="2743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小学美术项目式学习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天空单元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让孩子在观察与想象中感受天空之美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420624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一年级美术教学设计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从生活出发：孩子眼中的天空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8ECAE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2984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直接的生活经验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184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一年级学生对天空具有直接的生活经验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8ECAE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熟悉的内容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5786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太阳、云朵、彩虹、星空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8EC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有话可说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538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每个孩子都'见过、说得出、有感受'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8ECAE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1788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降低门槛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498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教学从熟悉经验出发，激发表达欲望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从白天到夜晚的自然叙事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508760" y="2386584"/>
            <a:ext cx="6035040" cy="73152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2286000"/>
            <a:ext cx="1005840" cy="274320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286000"/>
            <a:ext cx="1005840" cy="274320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2286000"/>
            <a:ext cx="1005840" cy="274320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11680"/>
            <a:ext cx="822960" cy="822960"/>
          </a:xfrm>
          <a:prstGeom prst="ellipse">
            <a:avLst/>
          </a:prstGeom>
          <a:solidFill>
            <a:srgbClr val="8ECAE6"/>
          </a:solidFill>
          <a:ln w="25400">
            <a:solidFill>
              <a:srgbClr val="219E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☀️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(白天)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822960" cy="822960"/>
          </a:xfrm>
          <a:prstGeom prst="ellipse">
            <a:avLst/>
          </a:prstGeom>
          <a:solidFill>
            <a:srgbClr val="8ECAE6"/>
          </a:solidFill>
          <a:ln w="25400">
            <a:solidFill>
              <a:srgbClr val="219E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03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3464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(过渡)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2011680"/>
            <a:ext cx="822960" cy="822960"/>
          </a:xfrm>
          <a:prstGeom prst="ellipse">
            <a:avLst/>
          </a:prstGeom>
          <a:solidFill>
            <a:srgbClr val="8ECAE6"/>
          </a:solidFill>
          <a:ln w="25400">
            <a:solidFill>
              <a:srgbClr val="219E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103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🌈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(过渡)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2011680"/>
            <a:ext cx="822960" cy="822960"/>
          </a:xfrm>
          <a:prstGeom prst="ellipse">
            <a:avLst/>
          </a:prstGeom>
          <a:solidFill>
            <a:srgbClr val="8ECAE6"/>
          </a:solidFill>
          <a:ln w="25400">
            <a:solidFill>
              <a:srgbClr val="219E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103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580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(夜晚)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7589520" cy="822960"/>
          </a:xfrm>
          <a:prstGeom prst="roundRect">
            <a:avLst>
              <a:gd name="adj" fmla="val 16667"/>
            </a:avLst>
          </a:prstGeom>
          <a:solidFill>
            <a:srgbClr val="8ECAE6">
              <a:alpha val="5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947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构成完整的时间发展线索，帮助学生建立时间与画面变化的联系，强化单元的整体性与故事性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多元技法，丰富体验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457200"/>
          </a:xfrm>
          <a:prstGeom prst="roundRect">
            <a:avLst>
              <a:gd name="adj" fmla="val 40000"/>
            </a:avLst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3840480" cy="1828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粘土造型 → 太阳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用粘土捏出立体的太阳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38404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005840"/>
            <a:ext cx="3840480" cy="457200"/>
          </a:xfrm>
          <a:prstGeom prst="roundRect">
            <a:avLst>
              <a:gd name="adj" fmla="val 40000"/>
            </a:avLst>
          </a:prstGeom>
          <a:solidFill>
            <a:srgbClr val="219EBC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325880"/>
            <a:ext cx="3840480" cy="18288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🧽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海绵拍印 → 云朵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用海绵拍印出柔软的云朵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8404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3840480" cy="457200"/>
          </a:xfrm>
          <a:prstGeom prst="roundRect">
            <a:avLst>
              <a:gd name="adj" fmla="val 40000"/>
            </a:avLst>
          </a:prstGeom>
          <a:solidFill>
            <a:srgbClr val="8ECAE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3840480" cy="182880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3444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油画棒绘画 → 彩虹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520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用油画棒画出绚丽的彩虹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2926080"/>
            <a:ext cx="38404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926080"/>
            <a:ext cx="3840480" cy="457200"/>
          </a:xfrm>
          <a:prstGeom prst="roundRect">
            <a:avLst>
              <a:gd name="adj" fmla="val 40000"/>
            </a:avLst>
          </a:prstGeom>
          <a:solidFill>
            <a:srgbClr val="023047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3246120"/>
            <a:ext cx="3840480" cy="18288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9496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综合材料 → 星空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3520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用综合材料拼贴梦幻星空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技法各不相同，避免重复，提升学生动手能力与兴趣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从观察走向创造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960120"/>
            <a:ext cx="27432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'天空'既是观察对象，也是创作载体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1097280"/>
          </a:xfrm>
          <a:prstGeom prst="roundRect">
            <a:avLst>
              <a:gd name="adj" fmla="val 16667"/>
            </a:avLst>
          </a:prstGeom>
          <a:solidFill>
            <a:srgbClr val="8ECAE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05740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开放性与延展性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具备丰富的想象空间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3840480" cy="1097280"/>
          </a:xfrm>
          <a:prstGeom prst="roundRect">
            <a:avLst>
              <a:gd name="adj" fmla="val 16667"/>
            </a:avLst>
          </a:prstGeom>
          <a:solidFill>
            <a:srgbClr val="8ECAE6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05740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💭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3212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联想与自由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鼓励联想与自由表达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097280"/>
          </a:xfrm>
          <a:prstGeom prst="roundRect">
            <a:avLst>
              <a:gd name="adj" fmla="val 16667"/>
            </a:avLst>
          </a:prstGeom>
          <a:solidFill>
            <a:srgbClr val="8ECA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38328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个性化创作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支持个性化创作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097280"/>
          </a:xfrm>
          <a:prstGeom prst="roundRect">
            <a:avLst>
              <a:gd name="adj" fmla="val 16667"/>
            </a:avLst>
          </a:prstGeom>
          <a:solidFill>
            <a:srgbClr val="8ECAE6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38328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32120" y="3337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想象力培养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培养想象力与创新意识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4251960"/>
            <a:ext cx="4572000" cy="27432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在观察中想象，在想象中创造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23047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小学美术项目式学习 - 天空单元</dc:title>
  <dc:subject>一年级美术教学设计</dc:subject>
  <dc:creator>Claude</dc:creator>
  <cp:lastModifiedBy>Claude</cp:lastModifiedBy>
  <cp:revision>1</cp:revision>
  <dcterms:created xsi:type="dcterms:W3CDTF">2026-04-12T07:47:23Z</dcterms:created>
  <dcterms:modified xsi:type="dcterms:W3CDTF">2026-04-12T07:47:23Z</dcterms:modified>
</cp:coreProperties>
</file>