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3200400" cy="3200400"/>
          </a:xfrm>
          <a:prstGeom prst="ellipse">
            <a:avLst/>
          </a:prstGeom>
          <a:solidFill>
            <a:srgbClr val="8ECAE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274320"/>
            <a:ext cx="2926080" cy="1645920"/>
          </a:xfrm>
          <a:prstGeom prst="roundRect">
            <a:avLst>
              <a:gd name="adj" fmla="val 11111"/>
            </a:avLst>
          </a:prstGeom>
          <a:solidFill>
            <a:srgbClr val="FFB703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840480"/>
            <a:ext cx="2560320" cy="2560320"/>
          </a:xfrm>
          <a:prstGeom prst="ellipse">
            <a:avLst/>
          </a:prstGeom>
          <a:solidFill>
            <a:srgbClr val="219EBC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457200" y="4114800"/>
            <a:ext cx="2286000" cy="1371600"/>
          </a:xfrm>
          <a:prstGeom prst="roundRect">
            <a:avLst>
              <a:gd name="adj" fmla="val 16667"/>
            </a:avLst>
          </a:prstGeom>
          <a:solidFill>
            <a:srgbClr val="8ECAE6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1828800"/>
            <a:ext cx="27432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7" name="Shape 5"/>
          <p:cNvSpPr/>
          <p:nvPr/>
        </p:nvSpPr>
        <p:spPr>
          <a:xfrm>
            <a:off x="4434840" y="1188720"/>
            <a:ext cx="274320" cy="27432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小学美术项目式学习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天空单元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让孩子在观察与想象中感受天空之美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74720" y="4206240"/>
            <a:ext cx="2194560" cy="109728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一年级美术教学设计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从生活出发：孩子眼中的天空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754880" cy="777240"/>
          </a:xfrm>
          <a:prstGeom prst="roundRect">
            <a:avLst>
              <a:gd name="adj" fmla="val 17647"/>
            </a:avLst>
          </a:prstGeom>
          <a:solidFill>
            <a:srgbClr val="8ECAE6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07008"/>
            <a:ext cx="502920" cy="50292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07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☀️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170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直接的生活经验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490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一年级学生对天空具有直接的生活经验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84248"/>
            <a:ext cx="4754880" cy="777240"/>
          </a:xfrm>
          <a:prstGeom prst="roundRect">
            <a:avLst>
              <a:gd name="adj" fmla="val 17647"/>
            </a:avLst>
          </a:prstGeom>
          <a:solidFill>
            <a:srgbClr val="8ECAE6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093976"/>
            <a:ext cx="502920" cy="50292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0939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2057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熟悉的内容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太阳、云朵、彩虹、星空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71216"/>
            <a:ext cx="4754880" cy="777240"/>
          </a:xfrm>
          <a:prstGeom prst="roundRect">
            <a:avLst>
              <a:gd name="adj" fmla="val 17647"/>
            </a:avLst>
          </a:prstGeom>
          <a:solidFill>
            <a:srgbClr val="8ECA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980944"/>
            <a:ext cx="502920" cy="50292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980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29443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有话可说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2644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每个孩子都'见过、说得出、有感受'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758184"/>
            <a:ext cx="4754880" cy="777240"/>
          </a:xfrm>
          <a:prstGeom prst="roundRect">
            <a:avLst>
              <a:gd name="adj" fmla="val 17647"/>
            </a:avLst>
          </a:prstGeom>
          <a:solidFill>
            <a:srgbClr val="8ECAE6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867912"/>
            <a:ext cx="502920" cy="50292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38313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降低门槛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41513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教学从熟悉经验出发，激发表达欲望</a:t>
            </a:r>
            <a:endParaRPr lang="en-US" sz="1200" dirty="0"/>
          </a:p>
        </p:txBody>
      </p:sp>
      <p:pic>
        <p:nvPicPr>
          <p:cNvPr id="23" name="Image 0" descr="./imgs/slide2-children-sk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731520"/>
            <a:ext cx="3566160" cy="384048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5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从白天到夜晚的自然叙事</a:t>
            </a:r>
            <a:endParaRPr lang="en-US" sz="3200" dirty="0"/>
          </a:p>
        </p:txBody>
      </p:sp>
      <p:pic>
        <p:nvPicPr>
          <p:cNvPr id="3" name="Image 0" descr="./imgs/slide3-sky-timel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5669280" cy="3108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17920" y="1005840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5" name="Text 2"/>
          <p:cNvSpPr/>
          <p:nvPr/>
        </p:nvSpPr>
        <p:spPr>
          <a:xfrm>
            <a:off x="621792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☀️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766560" y="1005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 → 开启白天的叙事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17920" y="1645920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76656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云朵 → 过渡与联想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2286000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🌈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76656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彩虹 → 色彩的魅力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7920" y="2926080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76656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星空 → 夜晚的想象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416052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8ECAE6">
              <a:alpha val="5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构成完整的时间发展线索，帮助学生建立时间与画面变化的联系，强化单元的整体性与故事性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9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多元技法，丰富体验</a:t>
            </a:r>
            <a:endParaRPr lang="en-US" sz="3200" dirty="0"/>
          </a:p>
        </p:txBody>
      </p:sp>
      <p:pic>
        <p:nvPicPr>
          <p:cNvPr id="3" name="Image 0" descr="./imgs/slide4-art-classroo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40080"/>
            <a:ext cx="384048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868680"/>
            <a:ext cx="2286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868680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FFB703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1143000"/>
            <a:ext cx="2286000" cy="18288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9144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🏺 粘土造型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太阳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用粘土捏出立体感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834640" y="868680"/>
            <a:ext cx="2286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34640" y="868680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219EBC"/>
          </a:solidFill>
          <a:ln/>
        </p:spPr>
      </p:sp>
      <p:sp>
        <p:nvSpPr>
          <p:cNvPr id="12" name="Shape 9"/>
          <p:cNvSpPr/>
          <p:nvPr/>
        </p:nvSpPr>
        <p:spPr>
          <a:xfrm>
            <a:off x="2834640" y="1143000"/>
            <a:ext cx="2286000" cy="182880"/>
          </a:xfrm>
          <a:prstGeom prst="rect">
            <a:avLst/>
          </a:prstGeom>
          <a:solidFill>
            <a:srgbClr val="219EBC"/>
          </a:solidFill>
          <a:ln/>
        </p:spPr>
      </p:sp>
      <p:sp>
        <p:nvSpPr>
          <p:cNvPr id="13" name="Text 10"/>
          <p:cNvSpPr/>
          <p:nvPr/>
        </p:nvSpPr>
        <p:spPr>
          <a:xfrm>
            <a:off x="2926080" y="9144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🧽 海绵拍印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7180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云朵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971800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拍印出柔软纹理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2468880"/>
            <a:ext cx="2286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2468880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8ECAE6"/>
          </a:solidFill>
          <a:ln/>
        </p:spPr>
      </p:sp>
      <p:sp>
        <p:nvSpPr>
          <p:cNvPr id="18" name="Shape 15"/>
          <p:cNvSpPr/>
          <p:nvPr/>
        </p:nvSpPr>
        <p:spPr>
          <a:xfrm>
            <a:off x="365760" y="2743200"/>
            <a:ext cx="2286000" cy="182880"/>
          </a:xfrm>
          <a:prstGeom prst="rect">
            <a:avLst/>
          </a:prstGeom>
          <a:solidFill>
            <a:srgbClr val="8ECAE6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25146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油画棒绘画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" y="2971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彩虹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画出绚丽色彩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834640" y="2468880"/>
            <a:ext cx="2286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834640" y="2468880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023047"/>
          </a:solidFill>
          <a:ln/>
        </p:spPr>
      </p:sp>
      <p:sp>
        <p:nvSpPr>
          <p:cNvPr id="24" name="Shape 21"/>
          <p:cNvSpPr/>
          <p:nvPr/>
        </p:nvSpPr>
        <p:spPr>
          <a:xfrm>
            <a:off x="2834640" y="2743200"/>
            <a:ext cx="2286000" cy="182880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25" name="Text 22"/>
          <p:cNvSpPr/>
          <p:nvPr/>
        </p:nvSpPr>
        <p:spPr>
          <a:xfrm>
            <a:off x="2926080" y="25146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综合材料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971800" y="2971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星空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297180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拼贴梦幻效果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6576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技法各不相同，避免重复，提升学生动手能力与兴趣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0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从观察走向创造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286000" y="822960"/>
            <a:ext cx="457200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'天空'既是观察对象，也是创作载体</a:t>
            </a:r>
            <a:endParaRPr lang="en-US" sz="2000" dirty="0"/>
          </a:p>
        </p:txBody>
      </p:sp>
      <p:pic>
        <p:nvPicPr>
          <p:cNvPr id="5" name="Image 0" descr="./imgs/slide5-imagin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08760"/>
            <a:ext cx="530352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0" y="1508760"/>
            <a:ext cx="3017520" cy="658368"/>
          </a:xfrm>
          <a:prstGeom prst="roundRect">
            <a:avLst>
              <a:gd name="adj" fmla="val 13889"/>
            </a:avLst>
          </a:prstGeom>
          <a:solidFill>
            <a:srgbClr val="8ECAE6"/>
          </a:solidFill>
          <a:ln/>
        </p:spPr>
      </p:sp>
      <p:sp>
        <p:nvSpPr>
          <p:cNvPr id="7" name="Shape 4"/>
          <p:cNvSpPr/>
          <p:nvPr/>
        </p:nvSpPr>
        <p:spPr>
          <a:xfrm>
            <a:off x="5943600" y="1600200"/>
            <a:ext cx="475488" cy="47548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6002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🌟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92240" y="15819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开放延展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8745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丰富的想象空间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2331720"/>
            <a:ext cx="3017520" cy="658368"/>
          </a:xfrm>
          <a:prstGeom prst="roundRect">
            <a:avLst>
              <a:gd name="adj" fmla="val 13889"/>
            </a:avLst>
          </a:prstGeom>
          <a:solidFill>
            <a:srgbClr val="8ECAE6"/>
          </a:solidFill>
          <a:ln/>
        </p:spPr>
      </p:sp>
      <p:sp>
        <p:nvSpPr>
          <p:cNvPr id="12" name="Shape 9"/>
          <p:cNvSpPr/>
          <p:nvPr/>
        </p:nvSpPr>
        <p:spPr>
          <a:xfrm>
            <a:off x="5943600" y="2423160"/>
            <a:ext cx="475488" cy="47548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2423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💭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92240" y="24048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联想自由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鼓励自由表达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52160" y="3154680"/>
            <a:ext cx="3017520" cy="658368"/>
          </a:xfrm>
          <a:prstGeom prst="roundRect">
            <a:avLst>
              <a:gd name="adj" fmla="val 13889"/>
            </a:avLst>
          </a:prstGeom>
          <a:solidFill>
            <a:srgbClr val="8ECAE6"/>
          </a:solidFill>
          <a:ln/>
        </p:spPr>
      </p:sp>
      <p:sp>
        <p:nvSpPr>
          <p:cNvPr id="17" name="Shape 14"/>
          <p:cNvSpPr/>
          <p:nvPr/>
        </p:nvSpPr>
        <p:spPr>
          <a:xfrm>
            <a:off x="5943600" y="3246120"/>
            <a:ext cx="475488" cy="47548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0" y="3246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492240" y="32278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个性创作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92240" y="35204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支持个性化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52160" y="3977640"/>
            <a:ext cx="3017520" cy="658368"/>
          </a:xfrm>
          <a:prstGeom prst="roundRect">
            <a:avLst>
              <a:gd name="adj" fmla="val 13889"/>
            </a:avLst>
          </a:prstGeom>
          <a:solidFill>
            <a:srgbClr val="8ECAE6"/>
          </a:solidFill>
          <a:ln/>
        </p:spPr>
      </p:sp>
      <p:sp>
        <p:nvSpPr>
          <p:cNvPr id="22" name="Shape 19"/>
          <p:cNvSpPr/>
          <p:nvPr/>
        </p:nvSpPr>
        <p:spPr>
          <a:xfrm>
            <a:off x="5943600" y="4069080"/>
            <a:ext cx="475488" cy="47548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0" y="4069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492240" y="40507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创新意识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92240" y="4343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培养想象力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65760" y="4572000"/>
            <a:ext cx="5303520" cy="27432"/>
          </a:xfrm>
          <a:prstGeom prst="rect">
            <a:avLst/>
          </a:prstGeom>
          <a:solidFill>
            <a:srgbClr val="8ECAE6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46451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在观察中想象，在想象中创造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23047"/>
          </a:solidFill>
          <a:ln/>
        </p:spPr>
      </p:sp>
      <p:sp>
        <p:nvSpPr>
          <p:cNvPr id="29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小学美术项目式学习 - 天空单元</dc:title>
  <dc:subject>一年级美术教学设计</dc:subject>
  <dc:creator>Claude</dc:creator>
  <cp:lastModifiedBy>Claude</cp:lastModifiedBy>
  <cp:revision>1</cp:revision>
  <dcterms:created xsi:type="dcterms:W3CDTF">2026-04-12T07:54:08Z</dcterms:created>
  <dcterms:modified xsi:type="dcterms:W3CDTF">2026-04-12T07:54:08Z</dcterms:modified>
</cp:coreProperties>
</file>